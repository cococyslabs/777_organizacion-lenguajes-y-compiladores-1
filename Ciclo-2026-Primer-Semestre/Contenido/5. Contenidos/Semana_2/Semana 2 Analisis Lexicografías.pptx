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chivo Black" charset="1" panose="020B0A03020202020B04"/>
      <p:regular r:id="rId22"/>
    </p:embeddedFont>
    <p:embeddedFont>
      <p:font typeface="Garet Bold" charset="1" panose="00000000000000000000"/>
      <p:regular r:id="rId23"/>
    </p:embeddedFont>
    <p:embeddedFont>
      <p:font typeface="Garet" charset="1" panose="00000000000000000000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embeddings/oleObject1.bin" Type="http://schemas.openxmlformats.org/officeDocument/2006/relationships/oleObjec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76252" y="5143500"/>
            <a:ext cx="719514" cy="719514"/>
          </a:xfrm>
          <a:custGeom>
            <a:avLst/>
            <a:gdLst/>
            <a:ahLst/>
            <a:cxnLst/>
            <a:rect r="r" b="b" t="t" l="l"/>
            <a:pathLst>
              <a:path h="719514" w="719514">
                <a:moveTo>
                  <a:pt x="0" y="0"/>
                </a:moveTo>
                <a:lnTo>
                  <a:pt x="719515" y="0"/>
                </a:lnTo>
                <a:lnTo>
                  <a:pt x="719515" y="719514"/>
                </a:lnTo>
                <a:lnTo>
                  <a:pt x="0" y="7195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6332015" y="1976492"/>
          <a:ext cx="11044238" cy="2150269"/>
        </p:xfrm>
        <a:graphic>
          <a:graphicData uri="http://schemas.openxmlformats.org/presentationml/2006/ole">
            <p:oleObj imgW="13246100" imgH="43561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7885470" y="9336609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SEMANA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USAC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353460"/>
            <a:ext cx="15553283" cy="219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6"/>
              </a:lnSpc>
              <a:spcBef>
                <a:spcPct val="0"/>
              </a:spcBef>
            </a:pPr>
            <a:r>
              <a:rPr lang="en-US" sz="5686" spc="-4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Organización de Lenguajes y Compiladores 1 </a:t>
            </a:r>
          </a:p>
          <a:p>
            <a:pPr algn="l">
              <a:lnSpc>
                <a:spcPts val="5686"/>
              </a:lnSpc>
              <a:spcBef>
                <a:spcPct val="0"/>
              </a:spcBef>
            </a:pPr>
            <a:r>
              <a:rPr lang="en-US" sz="5686" spc="-4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[N]</a:t>
            </a:r>
          </a:p>
          <a:p>
            <a:pPr algn="l">
              <a:lnSpc>
                <a:spcPts val="5686"/>
              </a:lnSpc>
              <a:spcBef>
                <a:spcPct val="0"/>
              </a:spcBef>
            </a:pPr>
            <a:r>
              <a:rPr lang="en-US" sz="5686" spc="-44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Luis Eduardo Monroy Pérez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39036"/>
            <a:ext cx="7203393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Unidad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05590" y="8892540"/>
            <a:ext cx="57537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OLC1 Primer Semestre</a:t>
            </a:r>
          </a:p>
        </p:txBody>
      </p:sp>
      <p:sp>
        <p:nvSpPr>
          <p:cNvPr name="AutoShape 5" id="5"/>
          <p:cNvSpPr/>
          <p:nvPr/>
        </p:nvSpPr>
        <p:spPr>
          <a:xfrm>
            <a:off x="-585133" y="881062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585133" y="9339262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4803775"/>
            <a:ext cx="47646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ANALISIS LEXICO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199594" y="1814513"/>
          <a:ext cx="6511183" cy="329565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3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DUDAS Y ANUNCIOS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PRESENTACION DE PROGRAMA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INTRODUCCION A COMPILADORES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EXPLICACION DE RECURSOS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47775"/>
            <a:ext cx="12299060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Competencias a Desarrollar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81337"/>
            <a:ext cx="8720629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ANALIZA Y DIFERENCIA LAS CARACTERÍSTICAS FUNDAMENTALES DE UN COMPILADOR Y UN INTÉRPRETE, IDENTIFICANDO SU FUNCIONAMIENTO, VENTAJAS Y APLICACIONES, PARA CLASIFICAR CORRECTAMENTE LOS DISTINTOS TIPOS DE COMPILADORES SEGÚN SU ESTRUCTURA Y COMPORTAMIENTO EN EL PROCESO DE TRADUCCIÓN Y EJECUCIÓN DE PROGRAMAS.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47775"/>
            <a:ext cx="12299060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Valor de la Semana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81337"/>
            <a:ext cx="8720629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DEMUESTRA COMPROMISO Y PRECISIÓN EN EL ANÁLISIS DE LOS PROCESOS DE TRADUCCIÓN Y EJECUCIÓN DE PROGRAMAS, APLICANDO CRITERIOS TÉCNICOS DE MANERA ÉTICA Y ORDENADA PARA IDENTIFICAR CORRECTAMENTE LAS DIFERENCIAS ENTRE COMPILADORES E INTÉRPRETES Y CLASIFICAR LOS TIPOS DE COMPILADORES SEGÚN SUS CARACTERÍSTICAS.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983" t="0" r="52377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0055907" y="2968185"/>
            <a:ext cx="720339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DUDAS Y ANUNCIOS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28700" y="4292535"/>
            <a:ext cx="13838306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5074698" y="3103895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887"/>
            <a:ext cx="882679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PROGRAMA DEL CURSO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963582" y="5640615"/>
            <a:ext cx="4123962" cy="815442"/>
            <a:chOff x="0" y="0"/>
            <a:chExt cx="5498615" cy="10872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5498615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LISTADO DE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22859"/>
              <a:ext cx="5498615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DESGLOCE DE TEMAS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005388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82075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958763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64898" y="3493940"/>
            <a:ext cx="4176100" cy="3299119"/>
          </a:xfrm>
          <a:custGeom>
            <a:avLst/>
            <a:gdLst/>
            <a:ahLst/>
            <a:cxnLst/>
            <a:rect r="r" b="b" t="t" l="l"/>
            <a:pathLst>
              <a:path h="3299119" w="4176100">
                <a:moveTo>
                  <a:pt x="0" y="0"/>
                </a:moveTo>
                <a:lnTo>
                  <a:pt x="4176101" y="0"/>
                </a:lnTo>
                <a:lnTo>
                  <a:pt x="4176101" y="3299120"/>
                </a:lnTo>
                <a:lnTo>
                  <a:pt x="0" y="3299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20646" y="7587169"/>
            <a:ext cx="5817403" cy="1570699"/>
          </a:xfrm>
          <a:custGeom>
            <a:avLst/>
            <a:gdLst/>
            <a:ahLst/>
            <a:cxnLst/>
            <a:rect r="r" b="b" t="t" l="l"/>
            <a:pathLst>
              <a:path h="1570699" w="5817403">
                <a:moveTo>
                  <a:pt x="0" y="0"/>
                </a:moveTo>
                <a:lnTo>
                  <a:pt x="5817403" y="0"/>
                </a:lnTo>
                <a:lnTo>
                  <a:pt x="5817403" y="1570699"/>
                </a:lnTo>
                <a:lnTo>
                  <a:pt x="0" y="15706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9236" y="1123950"/>
            <a:ext cx="16151275" cy="76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6"/>
              </a:lnSpc>
              <a:spcBef>
                <a:spcPct val="0"/>
              </a:spcBef>
            </a:pPr>
            <a:r>
              <a:rPr lang="en-US" sz="5686" spc="-44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CONCEPTOS GENERALES DE COMPILADORES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8224" y="2973856"/>
            <a:ext cx="1538982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 COMPILADOR ES UN PROGRAMA QUE PUEDE LEER UN PROGRAMA EN UN LENGUAJE Y TRADUCIRLO EN UN PROGRAMA EQUIVALENTE EN OTRO LENGUAJE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8224" y="4394248"/>
            <a:ext cx="914400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 EL PROGRAMA DESTINO ES UN PROGRAMA EJECUTABLE EN LENGUAJE MAQUINA, ENTONCES EL USUARIO PUEDE EJECUTARLO PARA PROCESAR LAS ENTRADAS Y PRODUCIR SALIDAS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08661" y="683473"/>
            <a:ext cx="947067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TIPOS DE COMPILADORES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13754"/>
            <a:ext cx="644337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AOT(Compilador Ahead-of-time)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60844" y="1813754"/>
            <a:ext cx="644337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JIT(Just-in-time)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18696"/>
            <a:ext cx="644337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Interprete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60844" y="4218696"/>
            <a:ext cx="644337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Compilador de una sola pasada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83618"/>
            <a:ext cx="644337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Compilador de multiples pasadas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3556" y="2628875"/>
            <a:ext cx="69264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C++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9870" y="2628875"/>
            <a:ext cx="231353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JavaScript (V8)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1867" y="5095875"/>
            <a:ext cx="110936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3556" y="8268045"/>
            <a:ext cx="17008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GCC, Clang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9870" y="5127625"/>
            <a:ext cx="35264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Compiladores antiguos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699544" y="65238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699"/>
                </a:lnTo>
                <a:lnTo>
                  <a:pt x="0" y="7167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47880" y="2371304"/>
            <a:ext cx="6595498" cy="6290456"/>
          </a:xfrm>
          <a:custGeom>
            <a:avLst/>
            <a:gdLst/>
            <a:ahLst/>
            <a:cxnLst/>
            <a:rect r="r" b="b" t="t" l="l"/>
            <a:pathLst>
              <a:path h="6290456" w="6595498">
                <a:moveTo>
                  <a:pt x="0" y="0"/>
                </a:moveTo>
                <a:lnTo>
                  <a:pt x="6595497" y="0"/>
                </a:lnTo>
                <a:lnTo>
                  <a:pt x="6595497" y="6290456"/>
                </a:lnTo>
                <a:lnTo>
                  <a:pt x="0" y="6290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72543" y="6435993"/>
            <a:ext cx="4423672" cy="3297274"/>
          </a:xfrm>
          <a:custGeom>
            <a:avLst/>
            <a:gdLst/>
            <a:ahLst/>
            <a:cxnLst/>
            <a:rect r="r" b="b" t="t" l="l"/>
            <a:pathLst>
              <a:path h="3297274" w="4423672">
                <a:moveTo>
                  <a:pt x="0" y="0"/>
                </a:moveTo>
                <a:lnTo>
                  <a:pt x="4423671" y="0"/>
                </a:lnTo>
                <a:lnTo>
                  <a:pt x="4423671" y="3297274"/>
                </a:lnTo>
                <a:lnTo>
                  <a:pt x="0" y="3297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00328" y="795349"/>
            <a:ext cx="708734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FASES DE ANALISIS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3337" y="1884766"/>
            <a:ext cx="6595498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 encarga especificamente del analisis del compilador, es la primera fase a implementar y es donde surge la tabla de símbolos, que se encontrara presente en todas las fases del compilador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5294" y="2567612"/>
            <a:ext cx="5451092" cy="6356958"/>
          </a:xfrm>
          <a:custGeom>
            <a:avLst/>
            <a:gdLst/>
            <a:ahLst/>
            <a:cxnLst/>
            <a:rect r="r" b="b" t="t" l="l"/>
            <a:pathLst>
              <a:path h="6356958" w="5451092">
                <a:moveTo>
                  <a:pt x="0" y="0"/>
                </a:moveTo>
                <a:lnTo>
                  <a:pt x="5451091" y="0"/>
                </a:lnTo>
                <a:lnTo>
                  <a:pt x="545109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17666" y="1123950"/>
            <a:ext cx="7052667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FASES DE SINTESIS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1212" y="3619817"/>
            <a:ext cx="763235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 encarga especificamente de generacion de codigo y optimizacion del mismo, esta segunda fase es donde se genera el codigo objeto, el cual interactúa con la maquina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3426" y="2309173"/>
            <a:ext cx="15057243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Primera fase del compilador, también llamado escaner. El análisis lexicografías lee el flujo de caracteres que componen el programa fuente y los agrupa en secuencias significativas.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Produce salidas o tokens, los lexemas son secuencias de caracteres que permiten asociar a un token</a:t>
            </a:r>
          </a:p>
          <a:p>
            <a:pPr algn="l">
              <a:lnSpc>
                <a:spcPts val="4759"/>
              </a:lnSpc>
            </a:pPr>
          </a:p>
        </p:txBody>
      </p:sp>
      <p:graphicFrame>
        <p:nvGraphicFramePr>
          <p:cNvPr name="Object 3" id="3"/>
          <p:cNvGraphicFramePr/>
          <p:nvPr/>
        </p:nvGraphicFramePr>
        <p:xfrm>
          <a:off x="12236597" y="5525757"/>
          <a:ext cx="3771900" cy="4400550"/>
        </p:xfrm>
        <a:graphic>
          <a:graphicData uri="http://schemas.openxmlformats.org/presentationml/2006/ole">
            <p:oleObj imgW="46482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149129" y="981865"/>
            <a:ext cx="1198974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DEFINICION DE ANALISIS LEXICO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2281" y="7624710"/>
            <a:ext cx="619407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= suma + 25;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3426" y="6423338"/>
            <a:ext cx="169098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Ejemplo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83856" y="2281528"/>
            <a:ext cx="5076777" cy="431526"/>
          </a:xfrm>
          <a:custGeom>
            <a:avLst/>
            <a:gdLst/>
            <a:ahLst/>
            <a:cxnLst/>
            <a:rect r="r" b="b" t="t" l="l"/>
            <a:pathLst>
              <a:path h="431526" w="5076777">
                <a:moveTo>
                  <a:pt x="0" y="0"/>
                </a:moveTo>
                <a:lnTo>
                  <a:pt x="5076777" y="0"/>
                </a:lnTo>
                <a:lnTo>
                  <a:pt x="5076777" y="431527"/>
                </a:lnTo>
                <a:lnTo>
                  <a:pt x="0" y="431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99561" y="2214896"/>
            <a:ext cx="5076777" cy="564791"/>
          </a:xfrm>
          <a:custGeom>
            <a:avLst/>
            <a:gdLst/>
            <a:ahLst/>
            <a:cxnLst/>
            <a:rect r="r" b="b" t="t" l="l"/>
            <a:pathLst>
              <a:path h="564791" w="5076777">
                <a:moveTo>
                  <a:pt x="0" y="0"/>
                </a:moveTo>
                <a:lnTo>
                  <a:pt x="5076777" y="0"/>
                </a:lnTo>
                <a:lnTo>
                  <a:pt x="5076777" y="564791"/>
                </a:lnTo>
                <a:lnTo>
                  <a:pt x="0" y="564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83856" y="3509800"/>
            <a:ext cx="7815907" cy="6203876"/>
          </a:xfrm>
          <a:custGeom>
            <a:avLst/>
            <a:gdLst/>
            <a:ahLst/>
            <a:cxnLst/>
            <a:rect r="r" b="b" t="t" l="l"/>
            <a:pathLst>
              <a:path h="6203876" w="7815907">
                <a:moveTo>
                  <a:pt x="0" y="0"/>
                </a:moveTo>
                <a:lnTo>
                  <a:pt x="7815907" y="0"/>
                </a:lnTo>
                <a:lnTo>
                  <a:pt x="7815907" y="6203877"/>
                </a:lnTo>
                <a:lnTo>
                  <a:pt x="0" y="6203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86126" y="3356718"/>
            <a:ext cx="4990212" cy="6356958"/>
          </a:xfrm>
          <a:custGeom>
            <a:avLst/>
            <a:gdLst/>
            <a:ahLst/>
            <a:cxnLst/>
            <a:rect r="r" b="b" t="t" l="l"/>
            <a:pathLst>
              <a:path h="6356958" w="4990212">
                <a:moveTo>
                  <a:pt x="0" y="0"/>
                </a:moveTo>
                <a:lnTo>
                  <a:pt x="4990212" y="0"/>
                </a:lnTo>
                <a:lnTo>
                  <a:pt x="4990212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49129" y="981865"/>
            <a:ext cx="1198974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DEFINICION DE ANALISIS LEXICO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597196" y="-727883"/>
            <a:ext cx="7051802" cy="11113155"/>
          </a:xfrm>
          <a:custGeom>
            <a:avLst/>
            <a:gdLst/>
            <a:ahLst/>
            <a:cxnLst/>
            <a:rect r="r" b="b" t="t" l="l"/>
            <a:pathLst>
              <a:path h="11113155" w="7051802">
                <a:moveTo>
                  <a:pt x="0" y="0"/>
                </a:moveTo>
                <a:lnTo>
                  <a:pt x="7051802" y="0"/>
                </a:lnTo>
                <a:lnTo>
                  <a:pt x="7051802" y="11113155"/>
                </a:lnTo>
                <a:lnTo>
                  <a:pt x="0" y="11113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04145" y="967518"/>
            <a:ext cx="1387971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COMPONENTES DEL ANALISIS LEXICO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04145" y="4048566"/>
            <a:ext cx="13879711" cy="30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3399" spc="-26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Código fuente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3399" spc="-26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↓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3399" spc="-26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Analizador léxico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3399" spc="-26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↓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3399" spc="-26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Tokens + Lexemas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3399" spc="-26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↓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3399" spc="-26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Parser (análisis sintáctico)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765688" y="5764688"/>
            <a:ext cx="3493612" cy="3493612"/>
          </a:xfrm>
          <a:custGeom>
            <a:avLst/>
            <a:gdLst/>
            <a:ahLst/>
            <a:cxnLst/>
            <a:rect r="r" b="b" t="t" l="l"/>
            <a:pathLst>
              <a:path h="3493612" w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4465" y="3453166"/>
            <a:ext cx="4765082" cy="1304441"/>
          </a:xfrm>
          <a:custGeom>
            <a:avLst/>
            <a:gdLst/>
            <a:ahLst/>
            <a:cxnLst/>
            <a:rect r="r" b="b" t="t" l="l"/>
            <a:pathLst>
              <a:path h="1304441" w="4765082">
                <a:moveTo>
                  <a:pt x="0" y="0"/>
                </a:moveTo>
                <a:lnTo>
                  <a:pt x="4765081" y="0"/>
                </a:lnTo>
                <a:lnTo>
                  <a:pt x="4765081" y="1304441"/>
                </a:lnTo>
                <a:lnTo>
                  <a:pt x="0" y="1304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91202" y="3264910"/>
            <a:ext cx="4095018" cy="1878590"/>
          </a:xfrm>
          <a:custGeom>
            <a:avLst/>
            <a:gdLst/>
            <a:ahLst/>
            <a:cxnLst/>
            <a:rect r="r" b="b" t="t" l="l"/>
            <a:pathLst>
              <a:path h="1878590" w="4095018">
                <a:moveTo>
                  <a:pt x="0" y="0"/>
                </a:moveTo>
                <a:lnTo>
                  <a:pt x="4095018" y="0"/>
                </a:lnTo>
                <a:lnTo>
                  <a:pt x="4095018" y="1878590"/>
                </a:lnTo>
                <a:lnTo>
                  <a:pt x="0" y="1878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4465" y="7095418"/>
            <a:ext cx="4677043" cy="1549270"/>
          </a:xfrm>
          <a:custGeom>
            <a:avLst/>
            <a:gdLst/>
            <a:ahLst/>
            <a:cxnLst/>
            <a:rect r="r" b="b" t="t" l="l"/>
            <a:pathLst>
              <a:path h="1549270" w="4677043">
                <a:moveTo>
                  <a:pt x="0" y="0"/>
                </a:moveTo>
                <a:lnTo>
                  <a:pt x="4677043" y="0"/>
                </a:lnTo>
                <a:lnTo>
                  <a:pt x="4677043" y="1549270"/>
                </a:lnTo>
                <a:lnTo>
                  <a:pt x="0" y="154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94165" y="6904918"/>
            <a:ext cx="4689092" cy="1951834"/>
          </a:xfrm>
          <a:custGeom>
            <a:avLst/>
            <a:gdLst/>
            <a:ahLst/>
            <a:cxnLst/>
            <a:rect r="r" b="b" t="t" l="l"/>
            <a:pathLst>
              <a:path h="1951834" w="4689092">
                <a:moveTo>
                  <a:pt x="0" y="0"/>
                </a:moveTo>
                <a:lnTo>
                  <a:pt x="4689092" y="0"/>
                </a:lnTo>
                <a:lnTo>
                  <a:pt x="4689092" y="1951834"/>
                </a:lnTo>
                <a:lnTo>
                  <a:pt x="0" y="1951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70085" y="4927625"/>
            <a:ext cx="4347830" cy="1929350"/>
          </a:xfrm>
          <a:custGeom>
            <a:avLst/>
            <a:gdLst/>
            <a:ahLst/>
            <a:cxnLst/>
            <a:rect r="r" b="b" t="t" l="l"/>
            <a:pathLst>
              <a:path h="1929350" w="4347830">
                <a:moveTo>
                  <a:pt x="0" y="0"/>
                </a:moveTo>
                <a:lnTo>
                  <a:pt x="4347830" y="0"/>
                </a:lnTo>
                <a:lnTo>
                  <a:pt x="4347830" y="1929350"/>
                </a:lnTo>
                <a:lnTo>
                  <a:pt x="0" y="1929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23954" y="795349"/>
            <a:ext cx="88400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METODO DE THOMPSON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9397" y="2510036"/>
            <a:ext cx="333494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Transiciones: ab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78231" y="2380910"/>
            <a:ext cx="452096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Transiciones: a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|b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51635" y="6276585"/>
            <a:ext cx="328270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Transiciones: a+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11499" y="6019727"/>
            <a:ext cx="32544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Transiciones: a*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09570" y="4177217"/>
            <a:ext cx="326886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Transiciones: a?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335657" y="-211377"/>
            <a:ext cx="7051802" cy="11113155"/>
          </a:xfrm>
          <a:custGeom>
            <a:avLst/>
            <a:gdLst/>
            <a:ahLst/>
            <a:cxnLst/>
            <a:rect r="r" b="b" t="t" l="l"/>
            <a:pathLst>
              <a:path h="11113155" w="7051802">
                <a:moveTo>
                  <a:pt x="0" y="0"/>
                </a:moveTo>
                <a:lnTo>
                  <a:pt x="7051802" y="0"/>
                </a:lnTo>
                <a:lnTo>
                  <a:pt x="7051802" y="11113155"/>
                </a:lnTo>
                <a:lnTo>
                  <a:pt x="0" y="111131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81625" y="1024907"/>
            <a:ext cx="7524750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METODO DEL ARBOL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7827" y="3149638"/>
            <a:ext cx="15664679" cy="336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530" indent="-411265" lvl="1">
              <a:lnSpc>
                <a:spcPts val="3809"/>
              </a:lnSpc>
              <a:buFont typeface="Arial"/>
              <a:buChar char="•"/>
            </a:pPr>
            <a:r>
              <a:rPr lang="en-US" sz="3809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Añadir a la expresión regular(r) un símbolo de fin de cadena (r) #</a:t>
            </a:r>
          </a:p>
          <a:p>
            <a:pPr algn="l" marL="822530" indent="-411265" lvl="1">
              <a:lnSpc>
                <a:spcPts val="3809"/>
              </a:lnSpc>
              <a:buFont typeface="Arial"/>
              <a:buChar char="•"/>
            </a:pPr>
            <a:r>
              <a:rPr lang="en-US" sz="3809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Construir el árbol</a:t>
            </a:r>
          </a:p>
          <a:p>
            <a:pPr algn="l" marL="822530" indent="-411265" lvl="1">
              <a:lnSpc>
                <a:spcPts val="3809"/>
              </a:lnSpc>
              <a:buFont typeface="Arial"/>
              <a:buChar char="•"/>
            </a:pPr>
            <a:r>
              <a:rPr lang="en-US" sz="3809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Identificar las hojas y numerarlas</a:t>
            </a:r>
          </a:p>
          <a:p>
            <a:pPr algn="l" marL="822530" indent="-411265" lvl="1">
              <a:lnSpc>
                <a:spcPts val="3809"/>
              </a:lnSpc>
              <a:buFont typeface="Arial"/>
              <a:buChar char="•"/>
            </a:pPr>
            <a:r>
              <a:rPr lang="en-US" sz="3809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Identificar los nodos anulables</a:t>
            </a:r>
          </a:p>
          <a:p>
            <a:pPr algn="l" marL="822530" indent="-411265" lvl="1">
              <a:lnSpc>
                <a:spcPts val="3809"/>
              </a:lnSpc>
              <a:buFont typeface="Arial"/>
              <a:buChar char="•"/>
            </a:pPr>
            <a:r>
              <a:rPr lang="en-US" sz="3809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Identificar primeros y últimos</a:t>
            </a:r>
          </a:p>
          <a:p>
            <a:pPr algn="l" marL="822530" indent="-411265" lvl="1">
              <a:lnSpc>
                <a:spcPts val="3809"/>
              </a:lnSpc>
              <a:buFont typeface="Arial"/>
              <a:buChar char="•"/>
            </a:pPr>
            <a:r>
              <a:rPr lang="en-US" sz="3809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Realizar tabla de siguientes</a:t>
            </a:r>
          </a:p>
          <a:p>
            <a:pPr algn="l" marL="822530" indent="-411265" lvl="1">
              <a:lnSpc>
                <a:spcPts val="3809"/>
              </a:lnSpc>
              <a:buFont typeface="Arial"/>
              <a:buChar char="•"/>
            </a:pPr>
            <a:r>
              <a:rPr lang="en-US" sz="3809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Realizar la tabla de transiciones y diagrama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371857" y="9083013"/>
            <a:ext cx="1916143" cy="1505043"/>
          </a:xfrm>
          <a:custGeom>
            <a:avLst/>
            <a:gdLst/>
            <a:ahLst/>
            <a:cxnLst/>
            <a:rect r="r" b="b" t="t" l="l"/>
            <a:pathLst>
              <a:path h="1505043" w="1916143">
                <a:moveTo>
                  <a:pt x="0" y="0"/>
                </a:moveTo>
                <a:lnTo>
                  <a:pt x="1916143" y="0"/>
                </a:lnTo>
                <a:lnTo>
                  <a:pt x="1916143" y="1505044"/>
                </a:lnTo>
                <a:lnTo>
                  <a:pt x="0" y="1505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DAG_jKX7dp8</dc:identifier>
  <dcterms:modified xsi:type="dcterms:W3CDTF">2011-08-01T06:04:30Z</dcterms:modified>
  <cp:revision>1</cp:revision>
  <dc:title>Semana 2: Analisis Lexicografías</dc:title>
</cp:coreProperties>
</file>