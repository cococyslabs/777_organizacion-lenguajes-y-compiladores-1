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Arimo"/>
      <p:regular r:id="rId17"/>
      <p:bold r:id="rId18"/>
      <p:italic r:id="rId19"/>
      <p:boldItalic r:id="rId20"/>
    </p:embeddedFont>
    <p:embeddedFont>
      <p:font typeface="Archivo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TVv1/XHnYQnMHAn4Xvly2yh+e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573D15-96C6-4BA2-87D0-3E89CE3DD3F3}">
  <a:tblStyle styleId="{D5573D15-96C6-4BA2-87D0-3E89CE3DD3F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ArchivoBlac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m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rim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Arim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863bf1c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a863bf1cf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9.jpg"/><Relationship Id="rId5" Type="http://schemas.openxmlformats.org/officeDocument/2006/relationships/image" Target="../media/image2.jp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hyperlink" Target="https://forms.gle/QUtYBjBaRH6WTyvd7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379298" y="8311463"/>
            <a:ext cx="1880002" cy="946837"/>
          </a:xfrm>
          <a:custGeom>
            <a:rect b="b" l="l" r="r" t="t"/>
            <a:pathLst>
              <a:path extrusionOk="0"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7885470" y="6394076"/>
            <a:ext cx="937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28700" y="8677224"/>
            <a:ext cx="3366096" cy="23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USAC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394796" y="8677224"/>
            <a:ext cx="3366096" cy="23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394796" y="8966251"/>
            <a:ext cx="3366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>
                <a:solidFill>
                  <a:srgbClr val="2B2B2B"/>
                </a:solidFill>
              </a:rPr>
              <a:t>—-----------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760892" y="8677224"/>
            <a:ext cx="3366096" cy="23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PRESENTED TO: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60892" y="8966251"/>
            <a:ext cx="3366096" cy="23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LABORATORIO DE OCL1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7376252" y="5143500"/>
            <a:ext cx="719514" cy="719514"/>
          </a:xfrm>
          <a:custGeom>
            <a:rect b="b" l="l" r="r" t="t"/>
            <a:pathLst>
              <a:path extrusionOk="0" h="719514" w="719514">
                <a:moveTo>
                  <a:pt x="0" y="0"/>
                </a:moveTo>
                <a:lnTo>
                  <a:pt x="719515" y="0"/>
                </a:lnTo>
                <a:lnTo>
                  <a:pt x="719515" y="719514"/>
                </a:lnTo>
                <a:lnTo>
                  <a:pt x="0" y="719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5397350" y="3935300"/>
            <a:ext cx="11610000" cy="26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5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DIAGNOSTICO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28700" y="7975968"/>
            <a:ext cx="6110734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28700" y="7568514"/>
            <a:ext cx="303460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graphicFrame>
        <p:nvGraphicFramePr>
          <p:cNvPr id="101" name="Google Shape;101;p2"/>
          <p:cNvGraphicFramePr/>
          <p:nvPr/>
        </p:nvGraphicFramePr>
        <p:xfrm>
          <a:off x="10199594" y="1814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{D5573D15-96C6-4BA2-87D0-3E89CE3DD3F3}</a:tableStyleId>
              </a:tblPr>
              <a:tblGrid>
                <a:gridCol w="866400"/>
                <a:gridCol w="5025025"/>
              </a:tblGrid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PRESENTACION AUXILIAR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EVALUACION DE LOS ESTUDIANTES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PRESENTACION DE LOS ESTUDIANTES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CENSO DE HORARIOS 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PROGRAMA DEL CURSO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EVALUACION DE CONOCIMIENTOS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/>
                        <a:t>09</a:t>
                      </a:r>
                      <a:endParaRPr b="1" sz="1999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/>
                        <a:t>TAREA DE FORTALECIMIENTO</a:t>
                      </a:r>
                      <a:endParaRPr b="1" sz="1999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2"/>
          <p:cNvSpPr/>
          <p:nvPr/>
        </p:nvSpPr>
        <p:spPr>
          <a:xfrm>
            <a:off x="-706637" y="1559650"/>
            <a:ext cx="9125543" cy="7167700"/>
          </a:xfrm>
          <a:custGeom>
            <a:rect b="b" l="l" r="r" t="t"/>
            <a:pathLst>
              <a:path extrusionOk="0"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4799313" y="0"/>
            <a:ext cx="3488687" cy="1198840"/>
          </a:xfrm>
          <a:custGeom>
            <a:rect b="b" l="l" r="r" t="t"/>
            <a:pathLst>
              <a:path extrusionOk="0"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983" r="52377" t="0"/>
          <a:stretch/>
        </p:blipFill>
        <p:spPr>
          <a:xfrm>
            <a:off x="5543434" y="0"/>
            <a:ext cx="7201132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3430366" y="4880657"/>
            <a:ext cx="3828934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10055907" y="4001198"/>
            <a:ext cx="7203393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PRESENTACION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03/10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grpSp>
        <p:nvGrpSpPr>
          <p:cNvPr id="119" name="Google Shape;119;p4"/>
          <p:cNvGrpSpPr/>
          <p:nvPr/>
        </p:nvGrpSpPr>
        <p:grpSpPr>
          <a:xfrm>
            <a:off x="1032609" y="890807"/>
            <a:ext cx="5481554" cy="4113237"/>
            <a:chOff x="6350" y="6350"/>
            <a:chExt cx="8903970" cy="6681343"/>
          </a:xfrm>
        </p:grpSpPr>
        <p:sp>
          <p:nvSpPr>
            <p:cNvPr id="120" name="Google Shape;120;p4"/>
            <p:cNvSpPr/>
            <p:nvPr/>
          </p:nvSpPr>
          <p:spPr>
            <a:xfrm>
              <a:off x="155575" y="155575"/>
              <a:ext cx="8605520" cy="6382893"/>
            </a:xfrm>
            <a:custGeom>
              <a:rect b="b" l="l" r="r" t="t"/>
              <a:pathLst>
                <a:path extrusionOk="0"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2450" l="0" r="0" t="-69906"/>
              </a:stretch>
            </a:blipFill>
            <a:ln>
              <a:noFill/>
            </a:ln>
          </p:spPr>
        </p:sp>
        <p:sp>
          <p:nvSpPr>
            <p:cNvPr id="121" name="Google Shape;121;p4"/>
            <p:cNvSpPr/>
            <p:nvPr/>
          </p:nvSpPr>
          <p:spPr>
            <a:xfrm>
              <a:off x="6350" y="6350"/>
              <a:ext cx="8903970" cy="6681343"/>
            </a:xfrm>
            <a:custGeom>
              <a:rect b="b" l="l" r="r" t="t"/>
              <a:pathLst>
                <a:path extrusionOk="0"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22" name="Google Shape;122;p4"/>
          <p:cNvGrpSpPr/>
          <p:nvPr/>
        </p:nvGrpSpPr>
        <p:grpSpPr>
          <a:xfrm>
            <a:off x="1032609" y="5282955"/>
            <a:ext cx="5481554" cy="4113237"/>
            <a:chOff x="6350" y="6350"/>
            <a:chExt cx="8903970" cy="6681343"/>
          </a:xfrm>
        </p:grpSpPr>
        <p:sp>
          <p:nvSpPr>
            <p:cNvPr id="123" name="Google Shape;123;p4"/>
            <p:cNvSpPr/>
            <p:nvPr/>
          </p:nvSpPr>
          <p:spPr>
            <a:xfrm>
              <a:off x="155575" y="155575"/>
              <a:ext cx="8605520" cy="6382893"/>
            </a:xfrm>
            <a:custGeom>
              <a:rect b="b" l="l" r="r" t="t"/>
              <a:pathLst>
                <a:path extrusionOk="0"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5663" r="-5663" t="0"/>
              </a:stretch>
            </a:blipFill>
            <a:ln>
              <a:noFill/>
            </a:ln>
          </p:spPr>
        </p:sp>
        <p:sp>
          <p:nvSpPr>
            <p:cNvPr id="124" name="Google Shape;124;p4"/>
            <p:cNvSpPr/>
            <p:nvPr/>
          </p:nvSpPr>
          <p:spPr>
            <a:xfrm>
              <a:off x="6350" y="6350"/>
              <a:ext cx="8903970" cy="6681343"/>
            </a:xfrm>
            <a:custGeom>
              <a:rect b="b" l="l" r="r" t="t"/>
              <a:pathLst>
                <a:path extrusionOk="0"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25" name="Google Shape;125;p4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EVALUACION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05/10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7039756" y="5231421"/>
            <a:ext cx="10219544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LINK: https://create.kahoot.it/share/diagnostico/55bac03b-a3b0-4eaf-9732-1827e396bc92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cxnSp>
        <p:nvCxnSpPr>
          <p:cNvPr id="134" name="Google Shape;134;p5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5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2095936" y="5404604"/>
            <a:ext cx="1672526" cy="702461"/>
          </a:xfrm>
          <a:custGeom>
            <a:rect b="b" l="l" r="r" t="t"/>
            <a:pathLst>
              <a:path extrusionOk="0"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8307737" y="5404604"/>
            <a:ext cx="1672526" cy="702461"/>
          </a:xfrm>
          <a:custGeom>
            <a:rect b="b" l="l" r="r" t="t"/>
            <a:pathLst>
              <a:path extrusionOk="0"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>
            <a:off x="14519538" y="5404604"/>
            <a:ext cx="1672526" cy="702461"/>
          </a:xfrm>
          <a:custGeom>
            <a:rect b="b" l="l" r="r" t="t"/>
            <a:pathLst>
              <a:path extrusionOk="0"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 rot="10800000">
            <a:off x="11159450" y="-140976"/>
            <a:ext cx="2611028" cy="4114800"/>
          </a:xfrm>
          <a:custGeom>
            <a:rect b="b" l="l" r="r" t="t"/>
            <a:pathLst>
              <a:path extrusionOk="0"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1028700" y="1557564"/>
            <a:ext cx="7279037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ESTUDIANTES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04/10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1028700" y="6475512"/>
            <a:ext cx="38069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# 1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7240501" y="6475512"/>
            <a:ext cx="38069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# 2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424020" y="7078855"/>
            <a:ext cx="501635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¿Que esperas del curso de compiladores?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635821" y="7078855"/>
            <a:ext cx="501635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¿Tienes amigos que esten llevando el curso o lo han llevado con aterioridad?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13452302" y="6475512"/>
            <a:ext cx="38069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# 3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2847622" y="7078855"/>
            <a:ext cx="501635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¿Te distraes facilmente cuando el curso no es dinamico?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sp>
        <p:nvSpPr>
          <p:cNvPr id="153" name="Google Shape;153;p6"/>
          <p:cNvSpPr txBox="1"/>
          <p:nvPr/>
        </p:nvSpPr>
        <p:spPr>
          <a:xfrm>
            <a:off x="1067082" y="1009650"/>
            <a:ext cx="81153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HORARIOS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1067082" y="2365608"/>
            <a:ext cx="8076918" cy="33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CALIFICACION DE OCL1</a:t>
            </a:r>
            <a:endParaRPr/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110" y="846594"/>
            <a:ext cx="9974597" cy="841313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1028700" y="7112861"/>
            <a:ext cx="766415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FORMULARIO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06/10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1067082" y="7678579"/>
            <a:ext cx="6392019" cy="415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https://forms.gle/QUtYBjBaRH6WTyvd7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cxnSp>
        <p:nvCxnSpPr>
          <p:cNvPr id="164" name="Google Shape;164;p7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7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7"/>
          <p:cNvCxnSpPr/>
          <p:nvPr/>
        </p:nvCxnSpPr>
        <p:spPr>
          <a:xfrm>
            <a:off x="1028700" y="4292535"/>
            <a:ext cx="13838306" cy="0"/>
          </a:xfrm>
          <a:prstGeom prst="straightConnector1">
            <a:avLst/>
          </a:prstGeom>
          <a:noFill/>
          <a:ln cap="rnd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7"/>
          <p:cNvSpPr/>
          <p:nvPr/>
        </p:nvSpPr>
        <p:spPr>
          <a:xfrm rot="5400000">
            <a:off x="15074698" y="3103895"/>
            <a:ext cx="1629446" cy="2396244"/>
          </a:xfrm>
          <a:custGeom>
            <a:rect b="b" l="l" r="r" t="t"/>
            <a:pathLst>
              <a:path extrusionOk="0"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7"/>
          <p:cNvSpPr txBox="1"/>
          <p:nvPr/>
        </p:nvSpPr>
        <p:spPr>
          <a:xfrm>
            <a:off x="1028700" y="1162887"/>
            <a:ext cx="8826798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PROGRAMA DEL CURSO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07/10</a:t>
            </a:r>
            <a:endParaRPr/>
          </a:p>
        </p:txBody>
      </p:sp>
      <p:grpSp>
        <p:nvGrpSpPr>
          <p:cNvPr id="170" name="Google Shape;170;p7"/>
          <p:cNvGrpSpPr/>
          <p:nvPr/>
        </p:nvGrpSpPr>
        <p:grpSpPr>
          <a:xfrm>
            <a:off x="12963582" y="5619184"/>
            <a:ext cx="4123962" cy="836873"/>
            <a:chOff x="0" y="-28575"/>
            <a:chExt cx="5498615" cy="1115831"/>
          </a:xfrm>
        </p:grpSpPr>
        <p:sp>
          <p:nvSpPr>
            <p:cNvPr id="171" name="Google Shape;171;p7"/>
            <p:cNvSpPr txBox="1"/>
            <p:nvPr/>
          </p:nvSpPr>
          <p:spPr>
            <a:xfrm>
              <a:off x="0" y="-28575"/>
              <a:ext cx="5498615" cy="532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LISTADO DE </a:t>
              </a:r>
              <a:endParaRPr/>
            </a:p>
          </p:txBody>
        </p:sp>
        <p:sp>
          <p:nvSpPr>
            <p:cNvPr id="172" name="Google Shape;172;p7"/>
            <p:cNvSpPr txBox="1"/>
            <p:nvPr/>
          </p:nvSpPr>
          <p:spPr>
            <a:xfrm>
              <a:off x="0" y="622859"/>
              <a:ext cx="5498615" cy="464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DESGLOCE DE TEMAS</a:t>
              </a:r>
              <a:endParaRPr/>
            </a:p>
          </p:txBody>
        </p:sp>
      </p:grpSp>
      <p:sp>
        <p:nvSpPr>
          <p:cNvPr id="173" name="Google Shape;173;p7"/>
          <p:cNvSpPr/>
          <p:nvPr/>
        </p:nvSpPr>
        <p:spPr>
          <a:xfrm>
            <a:off x="1028700" y="4102116"/>
            <a:ext cx="380752" cy="380752"/>
          </a:xfrm>
          <a:custGeom>
            <a:rect b="b" l="l" r="r" t="t"/>
            <a:pathLst>
              <a:path extrusionOk="0"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7"/>
          <p:cNvSpPr/>
          <p:nvPr/>
        </p:nvSpPr>
        <p:spPr>
          <a:xfrm>
            <a:off x="5005388" y="4102116"/>
            <a:ext cx="380752" cy="380752"/>
          </a:xfrm>
          <a:custGeom>
            <a:rect b="b" l="l" r="r" t="t"/>
            <a:pathLst>
              <a:path extrusionOk="0"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7"/>
          <p:cNvSpPr/>
          <p:nvPr/>
        </p:nvSpPr>
        <p:spPr>
          <a:xfrm>
            <a:off x="8982075" y="4102116"/>
            <a:ext cx="380752" cy="380752"/>
          </a:xfrm>
          <a:custGeom>
            <a:rect b="b" l="l" r="r" t="t"/>
            <a:pathLst>
              <a:path extrusionOk="0"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7"/>
          <p:cNvSpPr/>
          <p:nvPr/>
        </p:nvSpPr>
        <p:spPr>
          <a:xfrm>
            <a:off x="12958763" y="4102116"/>
            <a:ext cx="380752" cy="380752"/>
          </a:xfrm>
          <a:custGeom>
            <a:rect b="b" l="l" r="r" t="t"/>
            <a:pathLst>
              <a:path extrusionOk="0"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cxnSp>
        <p:nvCxnSpPr>
          <p:cNvPr id="182" name="Google Shape;182;p8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8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8"/>
          <p:cNvSpPr txBox="1"/>
          <p:nvPr/>
        </p:nvSpPr>
        <p:spPr>
          <a:xfrm>
            <a:off x="1028700" y="3161405"/>
            <a:ext cx="7203393" cy="1519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CONOCIMIENTOS DEL CURSO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08/10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1028700" y="5234879"/>
            <a:ext cx="800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EVALUACION DE CONOCIMIENTOS SOBRE COMPILADORES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0" y="5909370"/>
            <a:ext cx="9344578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LINK: https://create.kahoot.it/share/conocimientos-del-curso/72a3980c-6721-46b2-8fda-dee82c12be77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863bf1cf0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9" l="0" r="0" t="-3360"/>
            </a:stretch>
          </a:blipFill>
          <a:ln>
            <a:noFill/>
          </a:ln>
        </p:spPr>
      </p:sp>
      <p:sp>
        <p:nvSpPr>
          <p:cNvPr id="193" name="Google Shape;193;g3a863bf1cf0_0_0"/>
          <p:cNvSpPr txBox="1"/>
          <p:nvPr/>
        </p:nvSpPr>
        <p:spPr>
          <a:xfrm>
            <a:off x="1171775" y="3624475"/>
            <a:ext cx="8812800" cy="13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8">
                <a:latin typeface="Archivo Black"/>
                <a:ea typeface="Archivo Black"/>
                <a:cs typeface="Archivo Black"/>
                <a:sym typeface="Archivo Black"/>
              </a:rPr>
              <a:t>TAREA DE FORTALECIMIENTO</a:t>
            </a:r>
            <a:endParaRPr/>
          </a:p>
        </p:txBody>
      </p:sp>
      <p:sp>
        <p:nvSpPr>
          <p:cNvPr id="194" name="Google Shape;194;g3a863bf1cf0_0_0"/>
          <p:cNvSpPr txBox="1"/>
          <p:nvPr/>
        </p:nvSpPr>
        <p:spPr>
          <a:xfrm>
            <a:off x="12938218" y="981075"/>
            <a:ext cx="432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9"/>
              <a:t>09</a:t>
            </a: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/10</a:t>
            </a:r>
            <a:endParaRPr/>
          </a:p>
        </p:txBody>
      </p:sp>
      <p:cxnSp>
        <p:nvCxnSpPr>
          <p:cNvPr id="195" name="Google Shape;195;g3a863bf1cf0_0_0"/>
          <p:cNvCxnSpPr/>
          <p:nvPr/>
        </p:nvCxnSpPr>
        <p:spPr>
          <a:xfrm>
            <a:off x="-585133" y="8805859"/>
            <a:ext cx="18873000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g3a863bf1cf0_0_0"/>
          <p:cNvSpPr txBox="1"/>
          <p:nvPr/>
        </p:nvSpPr>
        <p:spPr>
          <a:xfrm>
            <a:off x="1028700" y="5738073"/>
            <a:ext cx="214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a863bf1cf0_0_0"/>
          <p:cNvSpPr txBox="1"/>
          <p:nvPr/>
        </p:nvSpPr>
        <p:spPr>
          <a:xfrm>
            <a:off x="3178247" y="5712038"/>
            <a:ext cx="797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a863bf1cf0_0_0"/>
          <p:cNvSpPr txBox="1"/>
          <p:nvPr/>
        </p:nvSpPr>
        <p:spPr>
          <a:xfrm>
            <a:off x="1028700" y="6351253"/>
            <a:ext cx="214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863bf1cf0_0_0"/>
          <p:cNvSpPr txBox="1"/>
          <p:nvPr/>
        </p:nvSpPr>
        <p:spPr>
          <a:xfrm>
            <a:off x="3178247" y="6325218"/>
            <a:ext cx="536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863bf1cf0_0_0"/>
          <p:cNvSpPr txBox="1"/>
          <p:nvPr/>
        </p:nvSpPr>
        <p:spPr>
          <a:xfrm>
            <a:off x="1028700" y="4803775"/>
            <a:ext cx="476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g3a863bf1cf0_0_0"/>
          <p:cNvGrpSpPr/>
          <p:nvPr/>
        </p:nvGrpSpPr>
        <p:grpSpPr>
          <a:xfrm>
            <a:off x="11153159" y="2453605"/>
            <a:ext cx="5481284" cy="4113035"/>
            <a:chOff x="6350" y="6350"/>
            <a:chExt cx="8903970" cy="6681343"/>
          </a:xfrm>
        </p:grpSpPr>
        <p:sp>
          <p:nvSpPr>
            <p:cNvPr id="202" name="Google Shape;202;g3a863bf1cf0_0_0"/>
            <p:cNvSpPr/>
            <p:nvPr/>
          </p:nvSpPr>
          <p:spPr>
            <a:xfrm>
              <a:off x="155575" y="155575"/>
              <a:ext cx="8605520" cy="6382893"/>
            </a:xfrm>
            <a:custGeom>
              <a:rect b="b" l="l" r="r" t="t"/>
              <a:pathLst>
                <a:path extrusionOk="0"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5660" r="-5670" t="0"/>
              </a:stretch>
            </a:blipFill>
            <a:ln>
              <a:noFill/>
            </a:ln>
          </p:spPr>
        </p:sp>
        <p:sp>
          <p:nvSpPr>
            <p:cNvPr id="203" name="Google Shape;203;g3a863bf1cf0_0_0"/>
            <p:cNvSpPr/>
            <p:nvPr/>
          </p:nvSpPr>
          <p:spPr>
            <a:xfrm>
              <a:off x="6350" y="6350"/>
              <a:ext cx="8903970" cy="6681343"/>
            </a:xfrm>
            <a:custGeom>
              <a:rect b="b" l="l" r="r" t="t"/>
              <a:pathLst>
                <a:path extrusionOk="0"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4" l="0" r="0" t="-3364"/>
            </a:stretch>
          </a:blipFill>
          <a:ln>
            <a:noFill/>
          </a:ln>
        </p:spPr>
      </p:sp>
      <p:sp>
        <p:nvSpPr>
          <p:cNvPr id="209" name="Google Shape;209;p9"/>
          <p:cNvSpPr txBox="1"/>
          <p:nvPr/>
        </p:nvSpPr>
        <p:spPr>
          <a:xfrm>
            <a:off x="1028700" y="2739036"/>
            <a:ext cx="7203393" cy="66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BIENVENIDOS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10/10</a:t>
            </a:r>
            <a:endParaRPr/>
          </a:p>
        </p:txBody>
      </p:sp>
      <p:cxnSp>
        <p:nvCxnSpPr>
          <p:cNvPr id="211" name="Google Shape;211;p9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9"/>
          <p:cNvSpPr txBox="1"/>
          <p:nvPr/>
        </p:nvSpPr>
        <p:spPr>
          <a:xfrm>
            <a:off x="1028700" y="5738073"/>
            <a:ext cx="214954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3178247" y="5712038"/>
            <a:ext cx="79748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2991163360101@ingenieria.usac.edu.gt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1028700" y="6351253"/>
            <a:ext cx="214954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3178247" y="6325218"/>
            <a:ext cx="536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+502 45503433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1028700" y="4803775"/>
            <a:ext cx="4764688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